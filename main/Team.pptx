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7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8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4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8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1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6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4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9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6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FC80A-A789-4CCE-99B6-959058E08279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58FEE-0F83-4FD1-834B-8A5258B73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7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9766"/>
          </a:xfrm>
        </p:spPr>
        <p:txBody>
          <a:bodyPr>
            <a:normAutofit/>
          </a:bodyPr>
          <a:lstStyle/>
          <a:p>
            <a:pPr algn="ctr"/>
            <a:r>
              <a:rPr lang="en-US" sz="3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3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3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3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116182" y="3507812"/>
            <a:ext cx="3169921" cy="58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Екатерина </a:t>
            </a:r>
            <a:r>
              <a:rPr lang="ru-RU" dirty="0" err="1">
                <a:solidFill>
                  <a:schemeClr val="tx1"/>
                </a:solidFill>
              </a:rPr>
              <a:t>Павлюк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151015" y="1856473"/>
            <a:ext cx="3169921" cy="58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Владимир Бобылев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151015" y="5329233"/>
            <a:ext cx="3100253" cy="582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Konstantin </a:t>
            </a:r>
            <a:r>
              <a:rPr lang="en-US" dirty="0" err="1">
                <a:solidFill>
                  <a:schemeClr val="tx1"/>
                </a:solidFill>
              </a:rPr>
              <a:t>Boyko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79474" y="1690688"/>
            <a:ext cx="3927566" cy="1409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31131" y="1159455"/>
            <a:ext cx="4580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25+ </a:t>
            </a:r>
            <a:r>
              <a:rPr lang="ru-RU" dirty="0">
                <a:solidFill>
                  <a:srgbClr val="FF0000"/>
                </a:solidFill>
              </a:rPr>
              <a:t>Опыт </a:t>
            </a:r>
            <a:r>
              <a:rPr lang="ru-RU" dirty="0" err="1">
                <a:solidFill>
                  <a:srgbClr val="FF0000"/>
                </a:solidFill>
              </a:rPr>
              <a:t>Инвестбанкира</a:t>
            </a:r>
            <a:r>
              <a:rPr lang="ru-RU" dirty="0">
                <a:solidFill>
                  <a:srgbClr val="FF0000"/>
                </a:solidFill>
              </a:rPr>
              <a:t> в Украине</a:t>
            </a:r>
            <a:endParaRPr lang="de-AT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/>
              <a:t>Investment Banking (Credit Suisse and KBC)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Управление активами</a:t>
            </a:r>
            <a:r>
              <a:rPr lang="en-US" dirty="0"/>
              <a:t> (TAS Investments)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Литигационное Финансирование </a:t>
            </a:r>
            <a:r>
              <a:rPr lang="en-US" dirty="0"/>
              <a:t> (European Litigation Fund)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1131" y="5291682"/>
            <a:ext cx="4728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20+ </a:t>
            </a:r>
            <a:r>
              <a:rPr lang="ru-RU" dirty="0">
                <a:solidFill>
                  <a:srgbClr val="FF0000"/>
                </a:solidFill>
              </a:rPr>
              <a:t>Опыт работы с </a:t>
            </a:r>
            <a:r>
              <a:rPr lang="en-US" dirty="0">
                <a:solidFill>
                  <a:srgbClr val="FF0000"/>
                </a:solidFill>
              </a:rPr>
              <a:t>VIP </a:t>
            </a:r>
            <a:r>
              <a:rPr lang="ru-RU" dirty="0">
                <a:solidFill>
                  <a:srgbClr val="FF0000"/>
                </a:solidFill>
              </a:rPr>
              <a:t>клиентами</a:t>
            </a:r>
            <a:endParaRPr lang="de-AT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/>
              <a:t>Private Banking (VAB Bank)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en-US" dirty="0"/>
              <a:t>Networking </a:t>
            </a:r>
            <a:r>
              <a:rPr lang="ru-RU" dirty="0"/>
              <a:t>( Привлечение клиентов)</a:t>
            </a:r>
          </a:p>
          <a:p>
            <a:pPr marL="285750" indent="-285750">
              <a:buFontTx/>
              <a:buChar char="-"/>
            </a:pPr>
            <a:r>
              <a:rPr lang="ru-RU" dirty="0"/>
              <a:t>Управление активами</a:t>
            </a:r>
            <a:r>
              <a:rPr lang="en-US" dirty="0"/>
              <a:t> (East Prospect Fund)</a:t>
            </a:r>
          </a:p>
        </p:txBody>
      </p:sp>
      <p:pic>
        <p:nvPicPr>
          <p:cNvPr id="1026" name="Picture 2" descr="Инвестбанкир Владимир Бобылев: В Украине сейчас самая большая норма прибыл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93" y="1560028"/>
            <a:ext cx="1169785" cy="124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6331131" y="3029306"/>
            <a:ext cx="47287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25+ </a:t>
            </a:r>
            <a:r>
              <a:rPr lang="ru-RU" dirty="0">
                <a:solidFill>
                  <a:srgbClr val="FF0000"/>
                </a:solidFill>
              </a:rPr>
              <a:t>Опыт работы с </a:t>
            </a:r>
            <a:r>
              <a:rPr lang="en-US" dirty="0">
                <a:solidFill>
                  <a:srgbClr val="FF0000"/>
                </a:solidFill>
              </a:rPr>
              <a:t>VIP </a:t>
            </a:r>
            <a:r>
              <a:rPr lang="ru-RU" dirty="0">
                <a:solidFill>
                  <a:srgbClr val="FF0000"/>
                </a:solidFill>
              </a:rPr>
              <a:t>клиентами </a:t>
            </a:r>
            <a:endParaRPr lang="de-AT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/>
              <a:t>Investment Banking (</a:t>
            </a:r>
            <a:r>
              <a:rPr lang="ru-RU" dirty="0"/>
              <a:t>Независимый консультант в</a:t>
            </a:r>
            <a:r>
              <a:rPr lang="en-US" dirty="0"/>
              <a:t> Credit Suisse )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en-US" dirty="0"/>
              <a:t>GR </a:t>
            </a:r>
            <a:r>
              <a:rPr lang="ru-RU" dirty="0"/>
              <a:t>в Парламенте Украины и в Кабинете Министров</a:t>
            </a:r>
          </a:p>
          <a:p>
            <a:pPr marL="285750" indent="-285750">
              <a:buFontTx/>
              <a:buChar char="-"/>
            </a:pPr>
            <a:r>
              <a:rPr lang="ru-RU" dirty="0"/>
              <a:t>Литигационное Финансирование </a:t>
            </a:r>
            <a:r>
              <a:rPr lang="en-US" dirty="0"/>
              <a:t>(European Litigation Fund)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DB5E0ED-02E0-463B-A0F8-21A4B8F78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60" y="5003393"/>
            <a:ext cx="1067918" cy="1200330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9981BDA-96CF-47DF-814F-EAF85D311F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58" y="3204196"/>
            <a:ext cx="1169785" cy="139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754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23343</TotalTime>
  <Words>93</Words>
  <Application>Microsoft Office PowerPoint</Application>
  <PresentationFormat>Широкоэкранный</PresentationFormat>
  <Paragraphs>16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T E A 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ИНВЕСТИЦИОННОЕ ПРЕДЛОЖЕНИЕ О ФИНАНСИРОВАНИИ 50 % ДОЛИ В       2-МИЛЛИАРДНОМ ПОРТФЕЛЕ ИСКОВ К РОССИЙСКОЙ ФЕДЕРАЦИИ ЗА РАЗРУШЕНИЯ, ПРИЧИНЕННЫЕ УКРАИНЕ.</dc:title>
  <dc:creator>Volodymyr Bobyliev</dc:creator>
  <cp:lastModifiedBy>Volodymyr Bobyliev</cp:lastModifiedBy>
  <cp:revision>28</cp:revision>
  <dcterms:created xsi:type="dcterms:W3CDTF">2024-03-15T08:06:05Z</dcterms:created>
  <dcterms:modified xsi:type="dcterms:W3CDTF">2025-05-25T07:50:16Z</dcterms:modified>
</cp:coreProperties>
</file>